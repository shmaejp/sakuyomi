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63" y="5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67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10分プレゼンの表紙。一言で:『農家の頭の中にしかない栽培判断を、音声で記録しAIで資産化する事業』。自分自身が農家でありITコンサルである点を冒頭で示す。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4行で事業の全体像。ポイントは『ツールを売らない』ビジネスモデルと、自分自身がn1である点。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課題を持つ層は統計的に十分存在し、縮小ではなく深刻化していく市場。政策も追い風であることを示す。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n1が自分自身である強み=課題の解像度。既存ツールが失敗する理由を『報酬の遅延』という一言に集約して説明する。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4ステップのうち③即時応答が肝（フックの源泉）。ツール販売ではなく定着支援サービスである点を強調。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ミクロな価値（本人の業務が変わる）とマクロな価値（継承資産になる）をビフォーアフターで対比。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競合定義の視点転換（SaaS比較ではなく『記録しない』との戦い）を最初に述べると質疑で強い。フックとロックを分けて説明。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単月黒字ライン=講座月1回+伴走3農場（月収19万円水準）に対し変動費は月数千円×農場数。価格は仮置きでありn1インタビューで検証すると明言する。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バリューチェーンを示し、資源調達を作る/買う/組むで整理。全部自前にしない戦略性を示す。稼働制約リスクは自分から開示。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収益性と持続性は別物。時間とともに競争力が改善する構造（蓄積→強化→獲得→蓄積）を1枚で示す。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正直な現在地開示が信頼を生む。『レベル2が多い=弱い』ではなく『検証計画が明確』とポジティブに位置づける。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各検証に合格ラインを事前に設定している点を強調（Day13の教え）。感想で終わらせない検証設計。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5行で全体を回収して締める。質疑に備え、価格根拠・競合SaaSとの違い・稼働配分の3つは回答を準備しておく。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事業企画書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栽培ナレッジSSOT</a:t>
            </a:r>
            <a:r>
              <a:rPr lang="ja-JP" altLang="en-US" sz="5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「サクヨミ」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F0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農家の判断を、農場の資産に。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F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音声とAIで栽培の暗黙知を記録・構造化し、家族農場の技術継承を支える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120640"/>
            <a:ext cx="292608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前田 晋弥（前田農園 / ITコンサルタント / AI・IoT講師）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F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2026年8月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514600" y="1600200"/>
            <a:ext cx="9098280" cy="960120"/>
          </a:xfrm>
          <a:prstGeom prst="roundRect">
            <a:avLst>
              <a:gd name="adj" fmla="val 5714"/>
            </a:avLst>
          </a:prstGeom>
          <a:solidFill>
            <a:srgbClr val="F2F5F0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1600200"/>
            <a:ext cx="8732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スマホの音声・写真で栽培判断とその根拠を数秒で記録し、生成AIが自動で構造化・クラウド集約する「栽培ナレッジSSOT（Single Source of Truth）」</a:t>
            </a:r>
            <a:r>
              <a:rPr lang="ja-JP" alt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→サクヨミ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89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514600" y="2788920"/>
            <a:ext cx="9098280" cy="960120"/>
          </a:xfrm>
          <a:prstGeom prst="roundRect">
            <a:avLst>
              <a:gd name="adj" fmla="val 5714"/>
            </a:avLst>
          </a:prstGeom>
          <a:solidFill>
            <a:srgbClr val="F2F5F0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2788920"/>
            <a:ext cx="8732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後継者問題・技術継承リスクを抱える40〜60代の家族農場経営者（1〜3ha規模）。第一号顧客（n1）は自分自身の農場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どう稼ぐ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514600" y="3977640"/>
            <a:ext cx="9098280" cy="960120"/>
          </a:xfrm>
          <a:prstGeom prst="roundRect">
            <a:avLst>
              <a:gd name="adj" fmla="val 5714"/>
            </a:avLst>
          </a:prstGeom>
          <a:solidFill>
            <a:srgbClr val="F2F5F0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3977640"/>
            <a:ext cx="8732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ツール単体では課金せず、導入講座（5万円/回）＋伴走コンサル（月3万円/農場）とのバンドルで提供。既存の講師・コンサル事業と相互強化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663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なぜ自分か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2514600" y="5166360"/>
            <a:ext cx="9098280" cy="960120"/>
          </a:xfrm>
          <a:prstGeom prst="roundRect">
            <a:avLst>
              <a:gd name="adj" fmla="val 5714"/>
            </a:avLst>
          </a:prstGeom>
          <a:solidFill>
            <a:srgbClr val="F2F5F0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5166360"/>
            <a:ext cx="8732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1.5haの家族農場を営む現役農家であり、AI/IoT講師・ITコンサルでもある。「自農場で実証済み」という当事者性が信頼の源泉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市場性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市場性：技術継承は構造的かつ拡大する課題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2F5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約111万人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基幹的農業従事者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（農林水産省 農業構造動態調査）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2F5F0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920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68.7歳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80560" y="27889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基幹的農業従事者の平均年齢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高齢化が進行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2F5F0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1920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約7割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0" y="27889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後継者を確保できていない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個人経営体の割合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政策の追い風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食料・農業・農村基本法改正（2024）：スマート農業・経営基盤強化を明確に後押し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スマート農業技術活用促進法（2024年10月施行）：技術導入への支援制度が整備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AI推進法（2025年施行）：産業でのAI活用が国家戦略に位置づけ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統計数値は直近公表値ベース。提案時に最新値へ更新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受容性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受容性：n1は自分自身。課題の当事者として始める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F2F5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リアルなn1顧客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大阪近郊で1.5haの家族農場を営む45歳の兼業農家（自分自身）。父から継いだ栽培判断の多くが暗黙知のまま。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抱える課題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農作業中は手がふさがり、記録できない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記録の便益は翌シーズンまで返らない（報酬の遅延）→ 何度も挫折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判断根拠が頭の中にしかなく、このままでは技術が継承されず経営が一代で途切れる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5257800" cy="4480560"/>
          </a:xfrm>
          <a:prstGeom prst="roundRect">
            <a:avLst>
              <a:gd name="adj" fmla="val 1224"/>
            </a:avLst>
          </a:prstGeom>
          <a:solidFill>
            <a:srgbClr val="1E3A1F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N1分析から得た核心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24231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記録ツールが定着しない本質は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技術でもコストでもなく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3291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「報酬の遅延」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675120" y="411480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入力コストは即時に発生するのに、便益は翌シーズン以降にしか返らない。だから続かない。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入力直後に要約・参照を即時に返すUXが解決の核心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ソリューション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ソリューション：数秒の記録が、検索できる農場の知になる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2103120"/>
          </a:xfrm>
          <a:prstGeom prst="roundRect">
            <a:avLst>
              <a:gd name="adj" fmla="val 2609"/>
            </a:avLst>
          </a:prstGeom>
          <a:solidFill>
            <a:srgbClr val="F2F5F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42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畑でスマホに話す・撮る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（数秒で完了）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90672" y="2788920"/>
            <a:ext cx="365760" cy="36576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1920240"/>
            <a:ext cx="2514600" cy="2103120"/>
          </a:xfrm>
          <a:prstGeom prst="roundRect">
            <a:avLst>
              <a:gd name="adj" fmla="val 2609"/>
            </a:avLst>
          </a:prstGeom>
          <a:solidFill>
            <a:srgbClr val="F2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3703320" y="214884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1442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2651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AI構造化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03320" y="3108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生成AIが判断と根拠を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自動で整理・タグ付け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16752" y="2788920"/>
            <a:ext cx="365760" cy="36576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920240"/>
            <a:ext cx="2514600" cy="2103120"/>
          </a:xfrm>
          <a:prstGeom prst="roundRect">
            <a:avLst>
              <a:gd name="adj" fmla="val 2609"/>
            </a:avLst>
          </a:prstGeom>
          <a:solidFill>
            <a:srgbClr val="2C5F2D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9400" y="214884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1442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2651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即時応答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9400" y="3108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その場で要約が返る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0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（報酬の遅延を解消）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42832" y="2788920"/>
            <a:ext cx="365760" cy="36576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1920240"/>
            <a:ext cx="2514600" cy="2103120"/>
          </a:xfrm>
          <a:prstGeom prst="roundRect">
            <a:avLst>
              <a:gd name="adj" fmla="val 2609"/>
            </a:avLst>
          </a:prstGeom>
          <a:solidFill>
            <a:srgbClr val="F2F5F0"/>
          </a:solidFill>
          <a:ln/>
        </p:spPr>
      </p:sp>
      <p:sp>
        <p:nvSpPr>
          <p:cNvPr id="23" name="Shape 21"/>
          <p:cNvSpPr/>
          <p:nvPr/>
        </p:nvSpPr>
        <p:spPr>
          <a:xfrm>
            <a:off x="9555480" y="214884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9555480" y="21442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55480" y="2651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蓄積・検索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555480" y="3108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クラウドに集約され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「去年の自分」を検索できる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109960" cy="1600200"/>
          </a:xfrm>
          <a:prstGeom prst="roundRect">
            <a:avLst>
              <a:gd name="adj" fmla="val 3429"/>
            </a:avLst>
          </a:prstGeom>
          <a:solidFill>
            <a:srgbClr val="F2F5F0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提供の形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ツールを渡して終わりにしない。導入講座と伴走コンサルをセットにし、記録が習慣として定着するまで支援する。定着支援こそが商品であり、ツールはその中核装置。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ソリューション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提供価値：導入前後で農場はこう変わる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F2F5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判断根拠は経営者の頭の中だけ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記録は続かず、日誌は空白だらけ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「去年どうしたか」を思い出せない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後継者・従業員に伝える手段がない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経営者が倒れたら技術も止まる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1E3A1F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24688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記録した直後に要約が返り、翌日には「過去の自分の判断」を検索できる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日々の判断が自動的に農場のデータベースになる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ノウハウが農場の資産として残り、後継者にそのまま引き継げる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栽培改善・取引先への説明にも活用できる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優位性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優位性：最大の競合は「記録しない」という現状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競合・代替手段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紙の農業日誌 / Excel / 既存営農管理SaaS（アグリノート等）——そして最大の競合は「記録しない＝記憶と勘による自前対応」。既存ツールは入力負荷が高く、この層を取り込めていない。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F2F5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00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選ばれる理由（フック）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農家自身がITコンサルとして自農場で実証済みという当事者性（「紺屋の白袴」の解消）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数秒の音声入力と即時フィードバックで「続けられる」設計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売り手ではなく、同じ課題を越えた実践者として信頼される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97180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F2F5F0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3200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選ばれ続ける理由（ロック）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37033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使うほど自農場の判断データが蓄積し、乗り換えれば資産を失う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講座・伴走を通じて築く関係性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自農場実証で得た「定着させるノウハウ」は後発が短期間では真似できない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収益性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収益性：ツールは売らない。定着支援で対価を得る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1E3A1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料金モデル（バンドル型）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導入講座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5万円 / 回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伴走コンサル（SSOTツール利用込み）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月3万円 / 農場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F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ツール単体では課金しない。既存の講師・コンサル事業の商材として組み込み、実証実績が講座の信頼を強化する相互強化構造。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2F5F0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コスト構造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286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変動費：クラウドAI利用料・サーバー費（月数千円/農場）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固定費：自身の開発・講師稼働（機会費用）と教材整備。最大のコストは自身の稼働時間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88620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F2F5F0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採算成立の目処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480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伴走3農場 + 講座月1回 で単月黒字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37960" y="5029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開発は自前のため初期投資は稼働のみ。1年以内の回収を見込む。※価格・数値は仮説であり検証対象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実現性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実現性：核は自前、周辺は借りる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現場で記録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24328" y="1920240"/>
            <a:ext cx="274320" cy="32004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7" name="Shape 5"/>
          <p:cNvSpPr/>
          <p:nvPr/>
        </p:nvSpPr>
        <p:spPr>
          <a:xfrm>
            <a:off x="2907792" y="164592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2907792" y="1645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AI構造化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83480" y="1920240"/>
            <a:ext cx="274320" cy="32004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5266944" y="164592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266944" y="1645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蓄積・検索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42632" y="1920240"/>
            <a:ext cx="274320" cy="32004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6096" y="164592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7626096" y="1645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定着支援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（講座・伴走）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701784" y="1920240"/>
            <a:ext cx="274320" cy="32004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9985248" y="164592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9985248" y="1645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継承・改善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作る（自社）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063240" y="2880360"/>
            <a:ext cx="8549640" cy="914400"/>
          </a:xfrm>
          <a:prstGeom prst="roundRect">
            <a:avLst>
              <a:gd name="adj" fmla="val 6000"/>
            </a:avLst>
          </a:prstGeom>
          <a:solidFill>
            <a:srgbClr val="F2F5F0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2880360"/>
            <a:ext cx="8183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AI構造化エンジン・導入講座教材・定着メソッド。事業の核となる資源は自前で構築。自農場（1.5ha）が実証フィールド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959352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4E7A4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593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買う（外部調達）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063240" y="3959352"/>
            <a:ext cx="8549640" cy="914400"/>
          </a:xfrm>
          <a:prstGeom prst="roundRect">
            <a:avLst>
              <a:gd name="adj" fmla="val 6000"/>
            </a:avLst>
          </a:prstGeom>
          <a:solidFill>
            <a:srgbClr val="F2F5F0"/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3959352"/>
            <a:ext cx="8183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クラウドAI基盤（API）・サーバー。汎用部分は開発せず調達し、立ち上げ速度を優先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038344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6B8F5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03834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組む（提携）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063240" y="5038344"/>
            <a:ext cx="8549640" cy="914400"/>
          </a:xfrm>
          <a:prstGeom prst="roundRect">
            <a:avLst>
              <a:gd name="adj" fmla="val 6000"/>
            </a:avLst>
          </a:prstGeom>
          <a:solidFill>
            <a:srgbClr val="F2F5F0"/>
          </a:solidFill>
          <a:ln/>
        </p:spPr>
      </p:sp>
      <p:sp>
        <p:nvSpPr>
          <p:cNvPr id="29" name="Text 27"/>
          <p:cNvSpPr/>
          <p:nvPr/>
        </p:nvSpPr>
        <p:spPr>
          <a:xfrm>
            <a:off x="3246120" y="5038344"/>
            <a:ext cx="8183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JA・普及指導センター・自治体（顧客接点）、WAGRI等データ連携基盤。相手の利は「管内農家の技術継承支援」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リスク：3事業掛け持ちによる稼働制約 → 週あたり投下可能時間を算出し、開発・支援計画に反映（検証項目）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持続性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持続性：続けるほど強くなる蓄積ループ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F2F5F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3172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27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記録・伴走の実践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顧客農場で日々の判断を記録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90672" y="2926080"/>
            <a:ext cx="365760" cy="36576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210312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1E3A1F"/>
          </a:solidFill>
          <a:ln/>
        </p:spPr>
      </p:sp>
      <p:sp>
        <p:nvSpPr>
          <p:cNvPr id="11" name="Shape 9"/>
          <p:cNvSpPr/>
          <p:nvPr/>
        </p:nvSpPr>
        <p:spPr>
          <a:xfrm>
            <a:off x="3703320" y="233172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327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資産の蓄積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0332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栽培判断データ・作目別テンプレート・定着事例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16752" y="2926080"/>
            <a:ext cx="365760" cy="36576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210312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F2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9400" y="233172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327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価値・効率の向上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2940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構造化精度と定着率が向上、立ち上げ工数が低下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42832" y="2926080"/>
            <a:ext cx="365760" cy="36576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210312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F2F5F0"/>
          </a:solidFill>
          <a:ln/>
        </p:spPr>
      </p:sp>
      <p:sp>
        <p:nvSpPr>
          <p:cNvPr id="23" name="Shape 21"/>
          <p:cNvSpPr/>
          <p:nvPr/>
        </p:nvSpPr>
        <p:spPr>
          <a:xfrm>
            <a:off x="9555480" y="233172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9555480" y="2327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5548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信頼と獲得力の強化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55548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実証事例が講座・コンサルの信頼を強化し、次の顧客を呼ぶ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83080" y="4434840"/>
            <a:ext cx="859536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  <a:headEnd type="triangl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1783080" y="45262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成果が次の記録・顧客を生み、さらに資産が蓄積する（左へ循環）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109960" cy="1051560"/>
          </a:xfrm>
          <a:prstGeom prst="roundRect">
            <a:avLst>
              <a:gd name="adj" fmla="val 5217"/>
            </a:avLst>
          </a:prstGeom>
          <a:solidFill>
            <a:srgbClr val="F2F5F0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1206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蓄積データは顧客にとっての乗り換え障壁（ロック）にもなる。毎回ゼロから顧客を探す事業ではなく、続けるほど獲得も提供も容易になる構造を目指す。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検証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検証の現在地：構想は一貫、検証はこれから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VDS（バリューデザインシンタックス）の20の問いを4段階で自己評価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2F5F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確信も確証もある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（n1顧客の実在）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2F5F0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21031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4E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297680" y="3063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34747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確証はあるが確信が未了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（市場規模・チャネル・コスト等）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2F5F0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21031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046720" y="3063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34747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書けるが論拠がない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（支払い意欲・価格・フック等）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109960" cy="1463040"/>
          </a:xfrm>
          <a:prstGeom prst="roundRect">
            <a:avLst>
              <a:gd name="adj" fmla="val 3750"/>
            </a:avLst>
          </a:prstGeom>
          <a:solidFill>
            <a:srgbClr val="1E3A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この分布の意味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1663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レベル2が14個 ＝ 検証すべき仮説が明確に言語化できている状態。最優先の問いは、コンセプト最上流の「その課題は逼迫性と支払い意欲を伴うか？」。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実行計画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ネクストアクション：小さく速く検証する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234440" cy="1005840"/>
          </a:xfrm>
          <a:prstGeom prst="roundRect">
            <a:avLst>
              <a:gd name="adj" fmla="val 5455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1645920"/>
            <a:ext cx="9692640" cy="1005840"/>
          </a:xfrm>
          <a:prstGeom prst="roundRect">
            <a:avLst>
              <a:gd name="adj" fmla="val 5455"/>
            </a:avLst>
          </a:prstGeom>
          <a:solidFill>
            <a:srgbClr val="F2F5F0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64592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n1インタビュー　</a:t>
            </a: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同規模（1〜3ha）の家族農場経営者2〜3名に実施。記録・継承にかけている時間と金額を聞き、導入講座5万円＋伴走月3万円を提示して支払い意欲を検証</a:t>
            </a: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▶ 合格ライン：2名以上が「導入を検討したい」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1234440" cy="1005840"/>
          </a:xfrm>
          <a:prstGeom prst="roundRect">
            <a:avLst>
              <a:gd name="adj" fmla="val 5455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16352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20240" y="2816352"/>
            <a:ext cx="9692640" cy="1005840"/>
          </a:xfrm>
          <a:prstGeom prst="roundRect">
            <a:avLst>
              <a:gd name="adj" fmla="val 5455"/>
            </a:avLst>
          </a:prstGeom>
          <a:solidFill>
            <a:srgbClr val="F2F5F0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2816352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自農場プロトタイプ　</a:t>
            </a: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1作期の運用で記録継続率（週あたり記録数）・参照頻度・AI利用コストを実測。「報酬の遅延」の解消を自ら検証</a:t>
            </a: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▶ 合格ライン：週5件以上の記録が3ヶ月継続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1234440" cy="1005840"/>
          </a:xfrm>
          <a:prstGeom prst="roundRect">
            <a:avLst>
              <a:gd name="adj" fmla="val 5455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86784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20240" y="3986784"/>
            <a:ext cx="9692640" cy="1005840"/>
          </a:xfrm>
          <a:prstGeom prst="roundRect">
            <a:avLst>
              <a:gd name="adj" fmla="val 5455"/>
            </a:avLst>
          </a:prstGeom>
          <a:solidFill>
            <a:srgbClr val="F2F5F0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3986784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チャネル検証　</a:t>
            </a: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JA・普及指導センター1件に技術継承支援の企画として持ち込み。講座受講生の農業関係者比率も確認</a:t>
            </a: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▶ 組む理由が成立するかを確認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157216"/>
            <a:ext cx="1234440" cy="1005840"/>
          </a:xfrm>
          <a:prstGeom prst="roundRect">
            <a:avLst>
              <a:gd name="adj" fmla="val 5455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57216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冬〜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920240" y="5157216"/>
            <a:ext cx="9692640" cy="1005840"/>
          </a:xfrm>
          <a:prstGeom prst="roundRect">
            <a:avLst>
              <a:gd name="adj" fmla="val 5455"/>
            </a:avLst>
          </a:prstGeom>
          <a:solidFill>
            <a:srgbClr val="F2F5F0"/>
          </a:solidFill>
          <a:ln/>
        </p:spPr>
      </p:sp>
      <p:sp>
        <p:nvSpPr>
          <p:cNvPr id="19" name="Text 17"/>
          <p:cNvSpPr/>
          <p:nvPr/>
        </p:nvSpPr>
        <p:spPr>
          <a:xfrm>
            <a:off x="2103120" y="5157216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導入1号農場　</a:t>
            </a: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実測コストと価格検証を反映して収支シミュレーションを更新し、伴走1号農場を獲得</a:t>
            </a: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▶ 2027年：伴走3農場＋講座月1回で単月黒字へ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農家の判断を、農場の資産に。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32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0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課題は構造的：技術継承の担い手約111万人、その知は頭の中にしかない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0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解決の核心：報酬の遅延を解消する「数秒記録 × 即時応答」のSSOT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0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勝ち筋：自農場実証の当事者性がフック、蓄積データがロック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0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モデル：講座・伴走とのバンドルで、3農場＋講座月1回で単月黒字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0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次の一歩：8月中にn1インタビューと自農場プロトタイプで支払い意欲と定着を検証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964</Words>
  <Application>Microsoft Office PowerPoint</Application>
  <PresentationFormat>ワイド画面</PresentationFormat>
  <Paragraphs>208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6" baseType="lpstr"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晋弥 前田</cp:lastModifiedBy>
  <cp:revision>2</cp:revision>
  <dcterms:created xsi:type="dcterms:W3CDTF">2026-08-10T09:42:29Z</dcterms:created>
  <dcterms:modified xsi:type="dcterms:W3CDTF">2026-08-10T11:44:00Z</dcterms:modified>
</cp:coreProperties>
</file>